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C975C03-8D08-B516-A38C-42CA41366FBE}">
          <p14:sldIdLst>
            <p14:sldId id="256"/>
          </p14:sldIdLst>
        </p14:section>
        <p14:section name="Background" id="{383383C7-EDE7-F221-98BD-B70F3F791D2D}">
          <p14:sldIdLst>
            <p14:sldId id="257"/>
            <p14:sldId id="258"/>
            <p14:sldId id="259"/>
          </p14:sldIdLst>
        </p14:section>
        <p14:section name="Design" id="{5F32FF66-7FD1-3827-1533-EB3770986559}">
          <p14:sldIdLst>
            <p14:sldId id="260"/>
            <p14:sldId id="261"/>
            <p14:sldId id="262"/>
          </p14:sldIdLst>
        </p14:section>
        <p14:section name="Results" id="{BCE37A2E-EDBD-A904-E1CD-B532507E4A85}">
          <p14:sldIdLst>
            <p14:sldId id="263"/>
            <p14:sldId id="264"/>
          </p14:sldIdLst>
        </p14:section>
        <p14:section name="Closing" id="{360FAFA4-AC4D-0F78-1E42-626154EEDC4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16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three team members by ID. The terminal is a usage illustration only, not captured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system call is the controlled entry point from user mode into kernel mode. strace shows these calls for any process. Our tool implements a simplified version with ptrace().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problems, one solution: hidden activity, a steep learning curve, and tools that look complex. Our tool is deliberately basic and educational.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maps to a part of the implementation: objectives 1 and 2 are the tracing core, 3 is output, 4 and 5 are the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1 to 7. Steps 5 to 7 repeat for each system-call event until the target exits. The parent is the tracer; the child is the tracee.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ptrace() is the core mechanism: it lets the parent observe and control the child. fork(), execvp(), and waitpid() handle process creation, program loading, and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why waitpid() is needed: the parent must wait until the child has stopped before reading its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snippet shows the tracing workflow, not the final project code. regs.orig_rax is specific to x86-64 Linux. Replace this slide with your real code and a real run once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the third column with real outcomes after you run each test. Do not report results you have not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a simple tool that makes system-call activity visible, built on fork, execvp, waitpid, and ptrace. Mention the limitations honestly, then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6  |  Mini strace-Like Process Monitoring Tool  |  Operating Systems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  |  BATCH 6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3716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strace-Like Process Monitoring Tool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Linux system-call tracing utility in C using ptrace()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IDs: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2520030223, 2520030270, 2520030301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(CSE)</a:t>
            </a:r>
            <a:endParaRPr lang="en-US" sz="1600" dirty="0"/>
          </a:p>
        </p:txBody>
      </p:sp>
      <p:sp>
        <p:nvSpPr>
          <p:cNvPr id="6" name="Terminal window"/>
          <p:cNvSpPr/>
          <p:nvPr/>
        </p:nvSpPr>
        <p:spPr>
          <a:xfrm>
            <a:off x="7863840" y="1280160"/>
            <a:ext cx="3776472" cy="4206240"/>
          </a:xfrm>
          <a:prstGeom prst="roundRect">
            <a:avLst>
              <a:gd name="adj" fmla="val 2421"/>
            </a:avLst>
          </a:prstGeom>
          <a:solidFill>
            <a:srgbClr val="070D1A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le terminal dot 1"/>
          <p:cNvSpPr/>
          <p:nvPr/>
        </p:nvSpPr>
        <p:spPr>
          <a:xfrm>
            <a:off x="8092440" y="1481328"/>
            <a:ext cx="137160" cy="1371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itle terminal dot 2"/>
          <p:cNvSpPr/>
          <p:nvPr/>
        </p:nvSpPr>
        <p:spPr>
          <a:xfrm>
            <a:off x="8348472" y="1481328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itle terminal dot 3"/>
          <p:cNvSpPr/>
          <p:nvPr/>
        </p:nvSpPr>
        <p:spPr>
          <a:xfrm>
            <a:off x="8604504" y="1481328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196596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./mini_strace &lt;program&gt; [args]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 program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|  system calls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v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 kernel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traced by ptrace()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Intro card 1"/>
          <p:cNvSpPr/>
          <p:nvPr/>
        </p:nvSpPr>
        <p:spPr>
          <a:xfrm>
            <a:off x="548640" y="1371600"/>
            <a:ext cx="3566160" cy="2788920"/>
          </a:xfrm>
          <a:prstGeom prst="roundRect">
            <a:avLst>
              <a:gd name="adj" fmla="val 262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Icon circle FaCogs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5" name="Image 0" descr="Cog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through which user programs request kernel services such as file I/O and process control. They connect user programs to the OS kernel.</a:t>
            </a:r>
            <a:endParaRPr lang="en-US" sz="1500" dirty="0"/>
          </a:p>
        </p:txBody>
      </p:sp>
      <p:sp>
        <p:nvSpPr>
          <p:cNvPr id="8" name="Intro card 2"/>
          <p:cNvSpPr/>
          <p:nvPr/>
        </p:nvSpPr>
        <p:spPr>
          <a:xfrm>
            <a:off x="4311396" y="1371600"/>
            <a:ext cx="3566160" cy="2788920"/>
          </a:xfrm>
          <a:prstGeom prst="roundRect">
            <a:avLst>
              <a:gd name="adj" fmla="val 262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Icon circle FaSearch"/>
          <p:cNvSpPr/>
          <p:nvPr/>
        </p:nvSpPr>
        <p:spPr>
          <a:xfrm>
            <a:off x="4585716" y="160020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0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08676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85716" y="24688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utility that traces the system calls made by a process and shows them in the terminal.</a:t>
            </a:r>
            <a:endParaRPr lang="en-US" sz="1500" dirty="0"/>
          </a:p>
        </p:txBody>
      </p:sp>
      <p:sp>
        <p:nvSpPr>
          <p:cNvPr id="13" name="Intro card 3"/>
          <p:cNvSpPr/>
          <p:nvPr/>
        </p:nvSpPr>
        <p:spPr>
          <a:xfrm>
            <a:off x="8074152" y="1371600"/>
            <a:ext cx="3566160" cy="2788920"/>
          </a:xfrm>
          <a:prstGeom prst="roundRect">
            <a:avLst>
              <a:gd name="adj" fmla="val 262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Icon circle FaTerminal"/>
          <p:cNvSpPr/>
          <p:nvPr/>
        </p:nvSpPr>
        <p:spPr>
          <a:xfrm>
            <a:off x="8348472" y="160020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5" name="Image 2" descr="Termina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492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1432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4688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strace-like tool written in C that uses the ptrace() system call to monitor a target process.</a:t>
            </a:r>
            <a:endParaRPr lang="en-US" sz="1500" dirty="0"/>
          </a:p>
        </p:txBody>
      </p:sp>
      <p:sp>
        <p:nvSpPr>
          <p:cNvPr id="18" name="Flow panel"/>
          <p:cNvSpPr/>
          <p:nvPr/>
        </p:nvSpPr>
        <p:spPr>
          <a:xfrm>
            <a:off x="548640" y="4389120"/>
            <a:ext cx="11091672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PROGRAM REACHES THE KERNEL</a:t>
            </a:r>
            <a:endParaRPr lang="en-US" sz="1200" dirty="0"/>
          </a:p>
        </p:txBody>
      </p:sp>
      <p:sp>
        <p:nvSpPr>
          <p:cNvPr id="20" name="Flow box 1"/>
          <p:cNvSpPr/>
          <p:nvPr/>
        </p:nvSpPr>
        <p:spPr>
          <a:xfrm>
            <a:off x="1097280" y="4983480"/>
            <a:ext cx="2651760" cy="77724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9728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Program</a:t>
            </a:r>
            <a:endParaRPr lang="en-US" sz="1800" dirty="0"/>
          </a:p>
        </p:txBody>
      </p:sp>
      <p:sp>
        <p:nvSpPr>
          <p:cNvPr id="22" name="Flow arrow 1"/>
          <p:cNvSpPr/>
          <p:nvPr/>
        </p:nvSpPr>
        <p:spPr>
          <a:xfrm>
            <a:off x="3749040" y="537210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Flow box 2"/>
          <p:cNvSpPr/>
          <p:nvPr/>
        </p:nvSpPr>
        <p:spPr>
          <a:xfrm>
            <a:off x="4663440" y="4983480"/>
            <a:ext cx="2651760" cy="77724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66344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</a:t>
            </a:r>
            <a:endParaRPr lang="en-US" sz="1800" dirty="0"/>
          </a:p>
        </p:txBody>
      </p:sp>
      <p:sp>
        <p:nvSpPr>
          <p:cNvPr id="25" name="Flow arrow 2"/>
          <p:cNvSpPr/>
          <p:nvPr/>
        </p:nvSpPr>
        <p:spPr>
          <a:xfrm>
            <a:off x="7315200" y="537210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Flow box 3"/>
          <p:cNvSpPr/>
          <p:nvPr/>
        </p:nvSpPr>
        <p:spPr>
          <a:xfrm>
            <a:off x="8229600" y="4983480"/>
            <a:ext cx="2651760" cy="77724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Icon circle FaEyeSlash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5" name="Image 0" descr="EyeSlas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activity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System-call activity is not directly visible during normal program execution.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6199632" y="14173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Icon circle FaGraduationCap"/>
          <p:cNvSpPr/>
          <p:nvPr/>
        </p:nvSpPr>
        <p:spPr>
          <a:xfrm>
            <a:off x="6473952" y="1691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0" name="Image 1" descr="GraduationCa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18516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96912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beginners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514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applications interact with the kernel can be difficult for beginners.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Icon circle FaCogs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5" name="Image 2" descr="Co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tools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may appear complex to students.</a:t>
            </a:r>
            <a:endParaRPr lang="en-US" sz="1600" dirty="0"/>
          </a:p>
        </p:txBody>
      </p:sp>
      <p:sp>
        <p:nvSpPr>
          <p:cNvPr id="18" name="Problem card 4"/>
          <p:cNvSpPr/>
          <p:nvPr/>
        </p:nvSpPr>
        <p:spPr>
          <a:xfrm>
            <a:off x="6199632" y="38404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Icon circle FaLightbulb"/>
          <p:cNvSpPr/>
          <p:nvPr/>
        </p:nvSpPr>
        <p:spPr>
          <a:xfrm>
            <a:off x="6473952" y="411480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0" name="Image 3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972" y="42748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96912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473952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educational process-monitoring tool that shows system-call activity.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Objective row 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325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target process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3258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tracer observes the child created with fork() and execvp().</a:t>
            </a:r>
            <a:endParaRPr lang="en-US" sz="1400" dirty="0"/>
          </a:p>
        </p:txBody>
      </p:sp>
      <p:sp>
        <p:nvSpPr>
          <p:cNvPr id="7" name="Objective row 2"/>
          <p:cNvSpPr/>
          <p:nvPr/>
        </p:nvSpPr>
        <p:spPr>
          <a:xfrm>
            <a:off x="548640" y="23317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331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entry and exit events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3317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PTRACE_SYSCALL stops the child at both system-call boundaries.</a:t>
            </a:r>
            <a:endParaRPr lang="en-US" sz="1400" dirty="0"/>
          </a:p>
        </p:txBody>
      </p:sp>
      <p:sp>
        <p:nvSpPr>
          <p:cNvPr id="11" name="Objective row 3"/>
          <p:cNvSpPr/>
          <p:nvPr/>
        </p:nvSpPr>
        <p:spPr>
          <a:xfrm>
            <a:off x="548640" y="333756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375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337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information in the terminal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3375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relevant system-call information as readable output.</a:t>
            </a:r>
            <a:endParaRPr lang="en-US" sz="1400" dirty="0"/>
          </a:p>
        </p:txBody>
      </p:sp>
      <p:sp>
        <p:nvSpPr>
          <p:cNvPr id="15" name="Objective row 4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43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343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process creation, debugging, and kernel interaction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343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execvp(), ptrace(), and waitpid() working together.</a:t>
            </a:r>
            <a:endParaRPr lang="en-US" sz="1400" dirty="0"/>
          </a:p>
        </p:txBody>
      </p:sp>
      <p:sp>
        <p:nvSpPr>
          <p:cNvPr id="19" name="Objective row 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3492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5349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core Operating Systems concepts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53492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system calls, and user-kernel interaction.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Architecture</a:t>
            </a:r>
            <a:endParaRPr lang="en-US" sz="3600" dirty="0"/>
          </a:p>
        </p:txBody>
      </p:sp>
      <p:sp>
        <p:nvSpPr>
          <p:cNvPr id="3" name="Flow node 1"/>
          <p:cNvSpPr/>
          <p:nvPr/>
        </p:nvSpPr>
        <p:spPr>
          <a:xfrm>
            <a:off x="548640" y="132588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Flow badge 1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35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Program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argv[1..]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5000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supplies the program and its arguments.</a:t>
            </a:r>
            <a:endParaRPr lang="en-US" sz="1300" dirty="0"/>
          </a:p>
        </p:txBody>
      </p:sp>
      <p:sp>
        <p:nvSpPr>
          <p:cNvPr id="9" name="Flow node 2"/>
          <p:cNvSpPr/>
          <p:nvPr/>
        </p:nvSpPr>
        <p:spPr>
          <a:xfrm>
            <a:off x="3456432" y="132588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Flow badge 2"/>
          <p:cNvSpPr/>
          <p:nvPr/>
        </p:nvSpPr>
        <p:spPr>
          <a:xfrm>
            <a:off x="3593592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359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1435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Creation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35000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creates a child that will become the target.</a:t>
            </a:r>
            <a:endParaRPr lang="en-US" sz="1300" dirty="0"/>
          </a:p>
        </p:txBody>
      </p:sp>
      <p:sp>
        <p:nvSpPr>
          <p:cNvPr id="15" name="Flow node 3"/>
          <p:cNvSpPr/>
          <p:nvPr/>
        </p:nvSpPr>
        <p:spPr>
          <a:xfrm>
            <a:off x="6364224" y="132588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Flow badge 3"/>
          <p:cNvSpPr/>
          <p:nvPr/>
        </p:nvSpPr>
        <p:spPr>
          <a:xfrm>
            <a:off x="6501384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138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1435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Tracing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PTRACE_TRACEME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235000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asks to be traced by its parent.</a:t>
            </a:r>
            <a:endParaRPr lang="en-US" sz="1300" dirty="0"/>
          </a:p>
        </p:txBody>
      </p:sp>
      <p:sp>
        <p:nvSpPr>
          <p:cNvPr id="21" name="Flow node 4"/>
          <p:cNvSpPr/>
          <p:nvPr/>
        </p:nvSpPr>
        <p:spPr>
          <a:xfrm>
            <a:off x="9272016" y="132588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Flow badge 4"/>
          <p:cNvSpPr/>
          <p:nvPr/>
        </p:nvSpPr>
        <p:spPr>
          <a:xfrm>
            <a:off x="9409176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09176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66376" y="1435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Target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09176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09176" y="235000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image is replaced by the target program.</a:t>
            </a:r>
            <a:endParaRPr lang="en-US" sz="1300" dirty="0"/>
          </a:p>
        </p:txBody>
      </p:sp>
      <p:sp>
        <p:nvSpPr>
          <p:cNvPr id="27" name="Flow node 5"/>
          <p:cNvSpPr/>
          <p:nvPr/>
        </p:nvSpPr>
        <p:spPr>
          <a:xfrm>
            <a:off x="9272016" y="370332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Flow badge 5"/>
          <p:cNvSpPr/>
          <p:nvPr/>
        </p:nvSpPr>
        <p:spPr>
          <a:xfrm>
            <a:off x="9409176" y="3840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09176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866376" y="3813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Calls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09176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PTRACE_SYSCALL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409176" y="47274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stops at each call entry and exit; parent waits with waitpid().</a:t>
            </a:r>
            <a:endParaRPr lang="en-US" sz="1300" dirty="0"/>
          </a:p>
        </p:txBody>
      </p:sp>
      <p:sp>
        <p:nvSpPr>
          <p:cNvPr id="33" name="Flow node 6"/>
          <p:cNvSpPr/>
          <p:nvPr/>
        </p:nvSpPr>
        <p:spPr>
          <a:xfrm>
            <a:off x="6364224" y="370332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Flow badge 6"/>
          <p:cNvSpPr/>
          <p:nvPr/>
        </p:nvSpPr>
        <p:spPr>
          <a:xfrm>
            <a:off x="6501384" y="3840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01384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58584" y="3813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Process Information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501384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PTRACE_GETREGS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01384" y="47274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child registers where supported (platform-dependent).</a:t>
            </a:r>
            <a:endParaRPr lang="en-US" sz="1300" dirty="0"/>
          </a:p>
        </p:txBody>
      </p:sp>
      <p:sp>
        <p:nvSpPr>
          <p:cNvPr id="39" name="Flow node 7"/>
          <p:cNvSpPr/>
          <p:nvPr/>
        </p:nvSpPr>
        <p:spPr>
          <a:xfrm>
            <a:off x="3456432" y="3703320"/>
            <a:ext cx="23774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0" name="Flow badge 7"/>
          <p:cNvSpPr/>
          <p:nvPr/>
        </p:nvSpPr>
        <p:spPr>
          <a:xfrm>
            <a:off x="3593592" y="3840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593592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050792" y="3813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Trace Output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3593592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/ stdout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593592" y="47274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information is printed in the terminal.</a:t>
            </a:r>
            <a:endParaRPr lang="en-US" sz="1300" dirty="0"/>
          </a:p>
        </p:txBody>
      </p:sp>
      <p:sp>
        <p:nvSpPr>
          <p:cNvPr id="45" name="Flow arrow 1"/>
          <p:cNvSpPr/>
          <p:nvPr/>
        </p:nvSpPr>
        <p:spPr>
          <a:xfrm>
            <a:off x="2926080" y="2308860"/>
            <a:ext cx="53035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6" name="Flow arrow 2"/>
          <p:cNvSpPr/>
          <p:nvPr/>
        </p:nvSpPr>
        <p:spPr>
          <a:xfrm>
            <a:off x="5833872" y="2308860"/>
            <a:ext cx="53035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7" name="Flow arrow 3"/>
          <p:cNvSpPr/>
          <p:nvPr/>
        </p:nvSpPr>
        <p:spPr>
          <a:xfrm>
            <a:off x="8741664" y="2308860"/>
            <a:ext cx="53035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8" name="Flow arrow 4"/>
          <p:cNvSpPr/>
          <p:nvPr/>
        </p:nvSpPr>
        <p:spPr>
          <a:xfrm>
            <a:off x="10460736" y="3291840"/>
            <a:ext cx="0" cy="4114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9" name="Flow arrow 5"/>
          <p:cNvSpPr/>
          <p:nvPr/>
        </p:nvSpPr>
        <p:spPr>
          <a:xfrm flipH="1">
            <a:off x="8741664" y="4686300"/>
            <a:ext cx="53035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50" name="Flow arrow 6"/>
          <p:cNvSpPr/>
          <p:nvPr/>
        </p:nvSpPr>
        <p:spPr>
          <a:xfrm flipH="1">
            <a:off x="5833872" y="4686300"/>
            <a:ext cx="53035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51" name="Roles card"/>
          <p:cNvSpPr/>
          <p:nvPr/>
        </p:nvSpPr>
        <p:spPr>
          <a:xfrm>
            <a:off x="548640" y="3703320"/>
            <a:ext cx="265176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1605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process, monitors the target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Tracee: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running the target program</a:t>
            </a:r>
            <a:endParaRPr lang="en-US" sz="14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3" name="Tech card 1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Icon circle FaCod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5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ch card 2"/>
          <p:cNvSpPr/>
          <p:nvPr/>
        </p:nvSpPr>
        <p:spPr>
          <a:xfrm>
            <a:off x="4311396" y="141732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Icon circle FaLinux"/>
          <p:cNvSpPr/>
          <p:nvPr/>
        </p:nvSpPr>
        <p:spPr>
          <a:xfrm>
            <a:off x="4585716" y="1691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0" name="Image 1" descr="Linux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8516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5716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85716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2000" dirty="0"/>
          </a:p>
        </p:txBody>
      </p:sp>
      <p:sp>
        <p:nvSpPr>
          <p:cNvPr id="13" name="Tech card 3"/>
          <p:cNvSpPr/>
          <p:nvPr/>
        </p:nvSpPr>
        <p:spPr>
          <a:xfrm>
            <a:off x="8074152" y="141732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Icon circle FaExchangeAlt"/>
          <p:cNvSpPr/>
          <p:nvPr/>
        </p:nvSpPr>
        <p:spPr>
          <a:xfrm>
            <a:off x="8348472" y="1691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5" name="Image 2" descr="Exchange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492" y="18516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48472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TRACING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ptrace()</a:t>
            </a:r>
            <a:endParaRPr lang="en-US" sz="1700" dirty="0"/>
          </a:p>
        </p:txBody>
      </p:sp>
      <p:sp>
        <p:nvSpPr>
          <p:cNvPr id="18" name="Tech card 4"/>
          <p:cNvSpPr/>
          <p:nvPr/>
        </p:nvSpPr>
        <p:spPr>
          <a:xfrm>
            <a:off x="548640" y="38862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Icon circle FaSitemap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0" name="Image 3" descr="Sitema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fork(), execvp(), waitpid()</a:t>
            </a:r>
            <a:endParaRPr lang="en-US" sz="1700" dirty="0"/>
          </a:p>
        </p:txBody>
      </p:sp>
      <p:sp>
        <p:nvSpPr>
          <p:cNvPr id="23" name="Tech card 5"/>
          <p:cNvSpPr/>
          <p:nvPr/>
        </p:nvSpPr>
        <p:spPr>
          <a:xfrm>
            <a:off x="4311396" y="38862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4" name="Icon circle FaHammer"/>
          <p:cNvSpPr/>
          <p:nvPr/>
        </p:nvSpPr>
        <p:spPr>
          <a:xfrm>
            <a:off x="4585716" y="41605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5" name="Image 4" descr="Hamme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3205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5716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85716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2000" dirty="0"/>
          </a:p>
        </p:txBody>
      </p:sp>
      <p:sp>
        <p:nvSpPr>
          <p:cNvPr id="28" name="Tech card 6"/>
          <p:cNvSpPr/>
          <p:nvPr/>
        </p:nvSpPr>
        <p:spPr>
          <a:xfrm>
            <a:off x="8074152" y="38862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9" name="Icon circle FaTerminal"/>
          <p:cNvSpPr/>
          <p:nvPr/>
        </p:nvSpPr>
        <p:spPr>
          <a:xfrm>
            <a:off x="8348472" y="41605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0" name="Image 5" descr="Terminal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8492" y="432054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48472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8348472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 and text editor</a:t>
            </a:r>
            <a:endParaRPr lang="en-US" sz="2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3600" dirty="0"/>
          </a:p>
        </p:txBody>
      </p:sp>
      <p:sp>
        <p:nvSpPr>
          <p:cNvPr id="3" name="Step row 1"/>
          <p:cNvSpPr/>
          <p:nvPr/>
        </p:nvSpPr>
        <p:spPr>
          <a:xfrm>
            <a:off x="548640" y="132588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777240" y="161848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63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target program and its arguments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from the command line (argv).</a:t>
            </a:r>
            <a:endParaRPr lang="en-US" sz="1400" dirty="0"/>
          </a:p>
        </p:txBody>
      </p:sp>
      <p:sp>
        <p:nvSpPr>
          <p:cNvPr id="8" name="Step row 2"/>
          <p:cNvSpPr/>
          <p:nvPr/>
        </p:nvSpPr>
        <p:spPr>
          <a:xfrm>
            <a:off x="548640" y="256032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Step number 2"/>
          <p:cNvSpPr/>
          <p:nvPr/>
        </p:nvSpPr>
        <p:spPr>
          <a:xfrm>
            <a:off x="777240" y="285292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974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child process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272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duplicates the parent process.</a:t>
            </a:r>
            <a:endParaRPr lang="en-US" sz="1400" dirty="0"/>
          </a:p>
        </p:txBody>
      </p:sp>
      <p:sp>
        <p:nvSpPr>
          <p:cNvPr id="13" name="Step row 3"/>
          <p:cNvSpPr/>
          <p:nvPr/>
        </p:nvSpPr>
        <p:spPr>
          <a:xfrm>
            <a:off x="548640" y="379476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Step number 3"/>
          <p:cNvSpPr/>
          <p:nvPr/>
        </p:nvSpPr>
        <p:spPr>
          <a:xfrm>
            <a:off x="777240" y="408736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tracing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61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calls ptrace(PTRACE_TRACEME).</a:t>
            </a:r>
            <a:endParaRPr lang="en-US" sz="1400" dirty="0"/>
          </a:p>
        </p:txBody>
      </p:sp>
      <p:sp>
        <p:nvSpPr>
          <p:cNvPr id="18" name="Step row 4"/>
          <p:cNvSpPr/>
          <p:nvPr/>
        </p:nvSpPr>
        <p:spPr>
          <a:xfrm>
            <a:off x="548640" y="502920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Step number 4"/>
          <p:cNvSpPr/>
          <p:nvPr/>
        </p:nvSpPr>
        <p:spPr>
          <a:xfrm>
            <a:off x="777240" y="532180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1663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target program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5961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 replaces the child's image.</a:t>
            </a:r>
            <a:endParaRPr lang="en-US" sz="1400" dirty="0"/>
          </a:p>
        </p:txBody>
      </p:sp>
      <p:sp>
        <p:nvSpPr>
          <p:cNvPr id="23" name="Step row 5"/>
          <p:cNvSpPr/>
          <p:nvPr/>
        </p:nvSpPr>
        <p:spPr>
          <a:xfrm>
            <a:off x="6199632" y="132588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4" name="Step number 5"/>
          <p:cNvSpPr/>
          <p:nvPr/>
        </p:nvSpPr>
        <p:spPr>
          <a:xfrm>
            <a:off x="6428232" y="161848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8232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59752" y="1463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system-call events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PTRACE_SYSCALL resumes the child; waitpid() waits for each stop.</a:t>
            </a:r>
            <a:endParaRPr lang="en-US" sz="1400" dirty="0"/>
          </a:p>
        </p:txBody>
      </p:sp>
      <p:sp>
        <p:nvSpPr>
          <p:cNvPr id="28" name="Step row 6"/>
          <p:cNvSpPr/>
          <p:nvPr/>
        </p:nvSpPr>
        <p:spPr>
          <a:xfrm>
            <a:off x="6199632" y="256032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9" name="Step number 6"/>
          <p:cNvSpPr/>
          <p:nvPr/>
        </p:nvSpPr>
        <p:spPr>
          <a:xfrm>
            <a:off x="6428232" y="285292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28232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26974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register information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59752" y="31272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PTRACE_GETREGS, where supported (platform-dependent).</a:t>
            </a:r>
            <a:endParaRPr lang="en-US" sz="1400" dirty="0"/>
          </a:p>
        </p:txBody>
      </p:sp>
      <p:sp>
        <p:nvSpPr>
          <p:cNvPr id="33" name="Step row 7"/>
          <p:cNvSpPr/>
          <p:nvPr/>
        </p:nvSpPr>
        <p:spPr>
          <a:xfrm>
            <a:off x="6199632" y="379476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4" name="Step number 7"/>
          <p:cNvSpPr/>
          <p:nvPr/>
        </p:nvSpPr>
        <p:spPr>
          <a:xfrm>
            <a:off x="6428232" y="408736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28232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159752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captured information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59752" y="4361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to the terminal for each event.</a:t>
            </a:r>
            <a:endParaRPr lang="en-US" sz="1400" dirty="0"/>
          </a:p>
        </p:txBody>
      </p:sp>
      <p:sp>
        <p:nvSpPr>
          <p:cNvPr id="38" name="Loop note"/>
          <p:cNvSpPr/>
          <p:nvPr/>
        </p:nvSpPr>
        <p:spPr>
          <a:xfrm>
            <a:off x="6199632" y="502920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6520" y="5029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to 7 repeat for every system-call event until the target process terminates.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Implementation and Output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280160"/>
            <a:ext cx="6126480" cy="4160520"/>
          </a:xfrm>
          <a:prstGeom prst="roundRect">
            <a:avLst>
              <a:gd name="adj" fmla="val 2198"/>
            </a:avLst>
          </a:prstGeom>
          <a:solidFill>
            <a:srgbClr val="070D1A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ode dot 1"/>
          <p:cNvSpPr/>
          <p:nvPr/>
        </p:nvSpPr>
        <p:spPr>
          <a:xfrm>
            <a:off x="777240" y="1463040"/>
            <a:ext cx="137160" cy="1371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Code dot 2"/>
          <p:cNvSpPr/>
          <p:nvPr/>
        </p:nvSpPr>
        <p:spPr>
          <a:xfrm>
            <a:off x="1033272" y="1463040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Code dot 3"/>
          <p:cNvSpPr/>
          <p:nvPr/>
        </p:nvSpPr>
        <p:spPr>
          <a:xfrm>
            <a:off x="1289304" y="1463040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37360" y="1389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tracer.c  (illustrative, simplified)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pid = fork();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(pid == 0) {                       /* child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ptrace(PTRACE_TRACEME, 0, NULL,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execvp(argv[1], &amp;argv[1]);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                              /* parent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status, in_call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user_regs_struct regs;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waitpid(pid, &amp;status, 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(;;)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ptrace(PTRACE_SYSCALL, pid, 0, 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waitpid(pid, &amp;status, 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(WIFEXITED(status))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in_call = !in_call;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ptrace(PTRACE_GETREGS, pid, 0, &amp;regs);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printf("syscall %llu %s\n", regs.orig_rax,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in_call ? "entry" : "exit");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Output panel"/>
          <p:cNvSpPr/>
          <p:nvPr/>
        </p:nvSpPr>
        <p:spPr>
          <a:xfrm>
            <a:off x="6949440" y="1280160"/>
            <a:ext cx="4690872" cy="2240280"/>
          </a:xfrm>
          <a:prstGeom prst="roundRect">
            <a:avLst>
              <a:gd name="adj" fmla="val 4082"/>
            </a:avLst>
          </a:prstGeom>
          <a:solidFill>
            <a:srgbClr val="070D1A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Output dot 1"/>
          <p:cNvSpPr/>
          <p:nvPr/>
        </p:nvSpPr>
        <p:spPr>
          <a:xfrm>
            <a:off x="7178040" y="1463040"/>
            <a:ext cx="137160" cy="1371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Output dot 2"/>
          <p:cNvSpPr/>
          <p:nvPr/>
        </p:nvSpPr>
        <p:spPr>
          <a:xfrm>
            <a:off x="7434072" y="1463040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Output dot 3"/>
          <p:cNvSpPr/>
          <p:nvPr/>
        </p:nvSpPr>
        <p:spPr>
          <a:xfrm>
            <a:off x="7690104" y="1463040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(illustrative, abridged)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82880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./mini_strace ./hello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59 entry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59 exit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1 entry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1 exit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231 entry</a:t>
            </a:r>
            <a:endParaRPr lang="en-US" sz="1400" dirty="0"/>
          </a:p>
        </p:txBody>
      </p:sp>
      <p:sp>
        <p:nvSpPr>
          <p:cNvPr id="15" name="Meaning card"/>
          <p:cNvSpPr/>
          <p:nvPr/>
        </p:nvSpPr>
        <p:spPr>
          <a:xfrm>
            <a:off x="6949440" y="3703320"/>
            <a:ext cx="4690872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1148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call stops twice: entry, then exit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x86-64: 59 = execve, 1 = write, 231 = exit_group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vary by architecture; name decoding is future work</a:t>
            </a:r>
            <a:endParaRPr lang="en-US" sz="1300" dirty="0"/>
          </a:p>
        </p:txBody>
      </p:sp>
      <p:sp>
        <p:nvSpPr>
          <p:cNvPr id="18" name="Illustrative banner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6235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ONLY: this code and output have not been validated by running the actual implementation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Results</a:t>
            </a:r>
            <a:endParaRPr lang="en-US" sz="3600" dirty="0"/>
          </a:p>
        </p:txBody>
      </p:sp>
      <p:graphicFrame>
        <p:nvGraphicFramePr>
          <p:cNvPr id="10" name="Tes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Behavior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 /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a simple program (e.g., Hello World)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F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starts under the tracer and runs to completion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system-call events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F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and exit events are captured and displayed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invalid arguments (missing or nonexistent program)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F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reports an error without crashing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 the target 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F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 detects termination and exits cleanly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tatus note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testing evidence is available yet, so all results are marked Pending validation. No test results or performance metrics are claimed.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Impact, Conclusion, and Future Scope</a:t>
            </a:r>
            <a:endParaRPr lang="en-US" sz="3600" dirty="0"/>
          </a:p>
        </p:txBody>
      </p:sp>
      <p:sp>
        <p:nvSpPr>
          <p:cNvPr id="3" name="Quadrant card 1"/>
          <p:cNvSpPr/>
          <p:nvPr/>
        </p:nvSpPr>
        <p:spPr>
          <a:xfrm>
            <a:off x="548640" y="128016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Icon circle FaGraduationCap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5" name="Image 0" descr="GraduationCa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Impact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system-call tracing easier for students to understand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hidden user-kernel activity into terminal output</a:t>
            </a:r>
            <a:endParaRPr lang="en-US" sz="1400" dirty="0"/>
          </a:p>
        </p:txBody>
      </p:sp>
      <p:sp>
        <p:nvSpPr>
          <p:cNvPr id="8" name="Quadrant card 2"/>
          <p:cNvSpPr/>
          <p:nvPr/>
        </p:nvSpPr>
        <p:spPr>
          <a:xfrm>
            <a:off x="6199632" y="128016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Icon circle FaCheckCircle"/>
          <p:cNvSpPr/>
          <p:nvPr/>
        </p:nvSpPr>
        <p:spPr>
          <a:xfrm>
            <a:off x="6428232" y="146304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0" name="Image 1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62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14032" y="1463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1488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Linux process management and debugging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user-kernel interaction using ptrace()</a:t>
            </a:r>
            <a:endParaRPr lang="en-US" sz="1400" dirty="0"/>
          </a:p>
        </p:txBody>
      </p:sp>
      <p:sp>
        <p:nvSpPr>
          <p:cNvPr id="13" name="Quadrant card 3"/>
          <p:cNvSpPr/>
          <p:nvPr/>
        </p:nvSpPr>
        <p:spPr>
          <a:xfrm>
            <a:off x="548640" y="324612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Icon circle FaExclamationTriangle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5" name="Image 2" descr="ExclamationTriang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35547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114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is simplified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information is platform-dependent</a:t>
            </a:r>
            <a:endParaRPr lang="en-US" sz="1400" dirty="0"/>
          </a:p>
        </p:txBody>
      </p:sp>
      <p:sp>
        <p:nvSpPr>
          <p:cNvPr id="18" name="Quadrant card 4"/>
          <p:cNvSpPr/>
          <p:nvPr/>
        </p:nvSpPr>
        <p:spPr>
          <a:xfrm>
            <a:off x="6199632" y="324612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Icon circle FaRocket"/>
          <p:cNvSpPr/>
          <p:nvPr/>
        </p:nvSpPr>
        <p:spPr>
          <a:xfrm>
            <a:off x="6428232" y="342900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0" name="Image 3" descr="Rocke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962" y="35547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14032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473952" y="4114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System-call name decoding and filtering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Timestamps, error reporting, better output formatting</a:t>
            </a:r>
            <a:endParaRPr lang="en-US" sz="1400" dirty="0"/>
          </a:p>
        </p:txBody>
      </p:sp>
      <p:sp>
        <p:nvSpPr>
          <p:cNvPr id="23" name="Closing band"/>
          <p:cNvSpPr/>
          <p:nvPr/>
        </p:nvSpPr>
        <p:spPr>
          <a:xfrm>
            <a:off x="548640" y="530352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8640" y="5303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stems Navy">
  <a:themeElements>
    <a:clrScheme name="Systems Navy">
      <a:dk1>
        <a:srgbClr val="0B1220"/>
      </a:dk1>
      <a:lt1>
        <a:srgbClr val="FFFFFF"/>
      </a:lt1>
      <a:dk2>
        <a:srgbClr val="15233A"/>
      </a:dk2>
      <a:lt2>
        <a:srgbClr val="9FB0C8"/>
      </a:lt2>
      <a:accent1>
        <a:srgbClr val="22D3EE"/>
      </a:accent1>
      <a:accent2>
        <a:srgbClr val="3B82F6"/>
      </a:accent2>
      <a:accent3>
        <a:srgbClr val="34D399"/>
      </a:accent3>
      <a:accent4>
        <a:srgbClr val="FBBF24"/>
      </a:accent4>
      <a:accent5>
        <a:srgbClr val="A78BFA"/>
      </a:accent5>
      <a:accent6>
        <a:srgbClr val="F87171"/>
      </a:accent6>
      <a:hlink>
        <a:srgbClr val="22D3EE"/>
      </a:hlink>
      <a:folHlink>
        <a:srgbClr val="9FB0C8"/>
      </a:folHlink>
    </a:clrScheme>
    <a:fontScheme name="Systems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Microsoft Office PowerPoint</Application>
  <PresentationFormat>Widescreen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Systems Navy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strace-Like Process Monitoring Tool</dc:title>
  <dc:subject>Operating Systems - Batch 6</dc:subject>
  <dc:creator>PptxGenJS</dc:creator>
  <cp:lastModifiedBy>prashanthidabbugunta357@outlook.com</cp:lastModifiedBy>
  <cp:revision>1</cp:revision>
  <dcterms:created xsi:type="dcterms:W3CDTF">2026-10-17T05:27:01Z</dcterms:created>
  <dcterms:modified xsi:type="dcterms:W3CDTF">2026-10-17T05:33:17Z</dcterms:modified>
</cp:coreProperties>
</file>